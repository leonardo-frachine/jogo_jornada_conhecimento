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Syne" panose="020B0604020202020204" charset="0"/>
      <p:regular r:id="rId17"/>
    </p:embeddedFont>
    <p:embeddedFont>
      <p:font typeface="Syne Extra Bold" panose="020B0604020202020204" charset="0"/>
      <p:regular r:id="rId1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1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88" y="13185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Jornada do Conhecimento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8463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Um jogo educacional gamificado que transforma o aprendizado em uma aventura épica.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600490"/>
            <a:ext cx="2144435" cy="426244"/>
          </a:xfrm>
          <a:prstGeom prst="roundRect">
            <a:avLst>
              <a:gd name="adj" fmla="val 17880"/>
            </a:avLst>
          </a:prstGeom>
          <a:solidFill>
            <a:srgbClr val="334805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3668474"/>
            <a:ext cx="18722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PROJETO ACADÊMICO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051572" y="3592870"/>
            <a:ext cx="2762607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A9F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95280" y="3668474"/>
            <a:ext cx="247519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GAMIFICAÇÃO NA EDUCAÇÃO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3790" y="46135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Integrantes</a:t>
            </a:r>
            <a:r>
              <a:rPr lang="en-US" sz="17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do Grupo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Guilherme </a:t>
            </a:r>
            <a:r>
              <a:rPr lang="en-US" sz="1750" i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Poit</a:t>
            </a:r>
            <a:endParaRPr lang="en-US" sz="1750" i="1" dirty="0">
              <a:solidFill>
                <a:srgbClr val="D7E5D8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17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 Gustavo Oliveira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- Leonardo </a:t>
            </a:r>
            <a:r>
              <a:rPr lang="en-US" sz="1750" i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Frachine</a:t>
            </a:r>
            <a:endParaRPr lang="en-US" sz="1750" i="1" dirty="0">
              <a:solidFill>
                <a:srgbClr val="D7E5D8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n-US" sz="17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Nathan </a:t>
            </a:r>
            <a:r>
              <a:rPr lang="en-US" sz="1750" i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Mariotto</a:t>
            </a:r>
            <a:endParaRPr lang="en-US" sz="1750" i="1" dirty="0">
              <a:solidFill>
                <a:srgbClr val="D7E5D8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endParaRPr lang="en-US" sz="1750" i="1" dirty="0">
              <a:solidFill>
                <a:srgbClr val="D7E5D8"/>
              </a:solidFill>
              <a:latin typeface="Syne" pitchFamily="34" charset="0"/>
              <a:ea typeface="Syne" pitchFamily="34" charset="-122"/>
              <a:cs typeface="Syne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i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Desenvolvimento</a:t>
            </a:r>
            <a:r>
              <a:rPr lang="en-US" sz="17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de </a:t>
            </a:r>
            <a:r>
              <a:rPr lang="en-US" sz="1750" i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Jogos</a:t>
            </a:r>
            <a:r>
              <a:rPr lang="en-US" sz="17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1750" i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Digitais</a:t>
            </a:r>
            <a:r>
              <a:rPr lang="en-US" sz="17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/ </a:t>
            </a:r>
            <a:r>
              <a:rPr lang="en-US" sz="1750" i="1" dirty="0" err="1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Engenharia</a:t>
            </a:r>
            <a:r>
              <a:rPr lang="en-US" sz="175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de Software · FAG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993" y="626864"/>
            <a:ext cx="7730014" cy="189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 Problema que Queremos Resolver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6993" y="2790468"/>
            <a:ext cx="7730014" cy="1484114"/>
          </a:xfrm>
          <a:prstGeom prst="roundRect">
            <a:avLst>
              <a:gd name="adj" fmla="val 7394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4133" y="2790468"/>
            <a:ext cx="91440" cy="1484114"/>
          </a:xfrm>
          <a:prstGeom prst="roundRect">
            <a:avLst>
              <a:gd name="adj" fmla="val 92791"/>
            </a:avLst>
          </a:prstGeom>
          <a:solidFill>
            <a:srgbClr val="A9F00F"/>
          </a:solidFill>
          <a:ln/>
        </p:spPr>
      </p:sp>
      <p:sp>
        <p:nvSpPr>
          <p:cNvPr id="6" name="Text 3"/>
          <p:cNvSpPr/>
          <p:nvPr/>
        </p:nvSpPr>
        <p:spPr>
          <a:xfrm>
            <a:off x="1000363" y="3015258"/>
            <a:ext cx="396037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Baixo Engajamento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00363" y="3438763"/>
            <a:ext cx="72118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Métodos tradicionais de ensino frequentemente falham em capturar a atenção e manter a motivação dos alunos em sala de aula.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06993" y="4454485"/>
            <a:ext cx="7730014" cy="1484114"/>
          </a:xfrm>
          <a:prstGeom prst="roundRect">
            <a:avLst>
              <a:gd name="adj" fmla="val 7394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4133" y="4454485"/>
            <a:ext cx="91440" cy="1484114"/>
          </a:xfrm>
          <a:prstGeom prst="roundRect">
            <a:avLst>
              <a:gd name="adj" fmla="val 92791"/>
            </a:avLst>
          </a:prstGeom>
          <a:solidFill>
            <a:srgbClr val="A9F00F"/>
          </a:solidFill>
          <a:ln/>
        </p:spPr>
      </p:sp>
      <p:sp>
        <p:nvSpPr>
          <p:cNvPr id="10" name="Text 7"/>
          <p:cNvSpPr/>
          <p:nvPr/>
        </p:nvSpPr>
        <p:spPr>
          <a:xfrm>
            <a:off x="1000363" y="4679275"/>
            <a:ext cx="654081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Ausência de Feedback Imediato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00363" y="5102781"/>
            <a:ext cx="72118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Professores têm dificuldade em acompanhar o desempenho individual dos alunos em tempo real durante as aulas.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06993" y="6118503"/>
            <a:ext cx="7730014" cy="1484114"/>
          </a:xfrm>
          <a:prstGeom prst="roundRect">
            <a:avLst>
              <a:gd name="adj" fmla="val 7394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133" y="6118503"/>
            <a:ext cx="91440" cy="1484114"/>
          </a:xfrm>
          <a:prstGeom prst="roundRect">
            <a:avLst>
              <a:gd name="adj" fmla="val 92791"/>
            </a:avLst>
          </a:prstGeom>
          <a:solidFill>
            <a:srgbClr val="A9F00F"/>
          </a:solidFill>
          <a:ln/>
        </p:spPr>
      </p:sp>
      <p:sp>
        <p:nvSpPr>
          <p:cNvPr id="14" name="Text 11"/>
          <p:cNvSpPr/>
          <p:nvPr/>
        </p:nvSpPr>
        <p:spPr>
          <a:xfrm>
            <a:off x="1000363" y="6343293"/>
            <a:ext cx="32159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Nossa Proposta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00363" y="6766798"/>
            <a:ext cx="72118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Aplicar </a:t>
            </a:r>
            <a:r>
              <a:rPr lang="en-US" sz="15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gamificação</a:t>
            </a: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para criar experiências de aprendizado interativas, motivadoras e mensuráveis.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8806"/>
            <a:ext cx="9075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Objetivos do Projeto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41213"/>
            <a:ext cx="4196358" cy="3309580"/>
          </a:xfrm>
          <a:prstGeom prst="roundRect">
            <a:avLst>
              <a:gd name="adj" fmla="val 287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2756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9F00F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46269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182904"/>
            <a:ext cx="33543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Jogo Interativo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67332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Criar um jogo educacional envolvente que motive os alunos a aprender de forma ativa e prazerosa.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41213"/>
            <a:ext cx="4196358" cy="3309580"/>
          </a:xfrm>
          <a:prstGeom prst="roundRect">
            <a:avLst>
              <a:gd name="adj" fmla="val 287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2756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9F00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562" y="346269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182904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Aprendizado Efetivo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502765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Auxiliar na fixação de conteúdos curriculares por meio de desafios progressivos e recompensas.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41213"/>
            <a:ext cx="4196358" cy="3309580"/>
          </a:xfrm>
          <a:prstGeom prst="roundRect">
            <a:avLst>
              <a:gd name="adj" fmla="val 287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2756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9F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46269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182904"/>
            <a:ext cx="35472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Monitoramento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67332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Permitir que professores acompanhem o desempenho dos alunos com relatórios detalhados.</a:t>
            </a:r>
            <a:endParaRPr lang="en-US" sz="1750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35533D0-929D-4CF7-A128-3DEDE401D794}"/>
              </a:ext>
            </a:extLst>
          </p:cNvPr>
          <p:cNvSpPr/>
          <p:nvPr/>
        </p:nvSpPr>
        <p:spPr>
          <a:xfrm>
            <a:off x="12842240" y="7741920"/>
            <a:ext cx="1666240" cy="375920"/>
          </a:xfrm>
          <a:prstGeom prst="rect">
            <a:avLst/>
          </a:prstGeom>
          <a:solidFill>
            <a:srgbClr val="141E24"/>
          </a:solidFill>
          <a:ln>
            <a:solidFill>
              <a:srgbClr val="141E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440BA3AD-4C13-410C-8EA9-7D9657CCF371}"/>
              </a:ext>
            </a:extLst>
          </p:cNvPr>
          <p:cNvGrpSpPr/>
          <p:nvPr/>
        </p:nvGrpSpPr>
        <p:grpSpPr>
          <a:xfrm>
            <a:off x="744260" y="875348"/>
            <a:ext cx="13764220" cy="7242492"/>
            <a:chOff x="744260" y="875348"/>
            <a:chExt cx="13764220" cy="7242492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260" y="1301472"/>
              <a:ext cx="8360688" cy="4737616"/>
            </a:xfrm>
            <a:prstGeom prst="rect">
              <a:avLst/>
            </a:prstGeom>
          </p:spPr>
        </p:pic>
        <p:sp>
          <p:nvSpPr>
            <p:cNvPr id="3" name="Shape 0"/>
            <p:cNvSpPr/>
            <p:nvPr/>
          </p:nvSpPr>
          <p:spPr>
            <a:xfrm>
              <a:off x="9631204" y="875348"/>
              <a:ext cx="1878330" cy="391001"/>
            </a:xfrm>
            <a:prstGeom prst="roundRect">
              <a:avLst>
                <a:gd name="adj" fmla="val 18274"/>
              </a:avLst>
            </a:prstGeom>
            <a:solidFill>
              <a:srgbClr val="334805"/>
            </a:solidFill>
            <a:ln/>
          </p:spPr>
        </p:sp>
        <p:sp>
          <p:nvSpPr>
            <p:cNvPr id="4" name="Text 1"/>
            <p:cNvSpPr/>
            <p:nvPr/>
          </p:nvSpPr>
          <p:spPr>
            <a:xfrm>
              <a:off x="9758720" y="939046"/>
              <a:ext cx="1623298" cy="2636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3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CONCEITO DO JOGO</a:t>
              </a:r>
              <a:endParaRPr lang="en-US" sz="13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9631204" y="1346002"/>
              <a:ext cx="4262438" cy="26579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5200"/>
                </a:lnSpc>
                <a:buNone/>
              </a:pPr>
              <a:r>
                <a:rPr lang="en-US" sz="415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Tabuleiro Digital com Propósito</a:t>
              </a:r>
              <a:endParaRPr lang="en-US" sz="41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9631204" y="4203263"/>
              <a:ext cx="4262438" cy="2306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6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O </a:t>
              </a:r>
              <a:r>
                <a:rPr lang="en-US" sz="1650" b="1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Jornada do Conhecimento</a:t>
              </a:r>
              <a:r>
                <a:rPr lang="en-US" sz="16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 é um jogo educacional no gênero </a:t>
              </a:r>
              <a:r>
                <a:rPr lang="en-US" sz="1650" b="1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Tabuleiro Digital</a:t>
              </a:r>
              <a:r>
                <a:rPr lang="en-US" sz="16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. O jogador avança pelo caminho respondendo perguntas de múltipla escolha — cada acerto gera </a:t>
              </a:r>
              <a:r>
                <a:rPr lang="en-US" sz="1650" b="1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XP (Pontos de Experiência)</a:t>
              </a:r>
              <a:r>
                <a:rPr lang="en-US" sz="16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 e desbloqueia novos desafios.</a:t>
              </a:r>
              <a:endParaRPr lang="en-US" sz="1650" dirty="0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3913" y="6920270"/>
              <a:ext cx="318968" cy="318968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1435298" y="6913721"/>
              <a:ext cx="3523417" cy="6646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Avançar no Tabuleiro</a:t>
              </a:r>
              <a:endParaRPr lang="en-US" sz="2050" dirty="0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87566" y="6920270"/>
              <a:ext cx="318968" cy="318968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5898952" y="6913721"/>
              <a:ext cx="3523417" cy="6646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Responder Perguntas</a:t>
              </a:r>
              <a:endParaRPr lang="en-US" sz="2050" dirty="0"/>
            </a:p>
          </p:txBody>
        </p:sp>
        <p:pic>
          <p:nvPicPr>
            <p:cNvPr id="11" name="Image 3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51219" y="6920270"/>
              <a:ext cx="318968" cy="318968"/>
            </a:xfrm>
            <a:prstGeom prst="rect">
              <a:avLst/>
            </a:prstGeom>
          </p:spPr>
        </p:pic>
        <p:sp>
          <p:nvSpPr>
            <p:cNvPr id="12" name="Text 6"/>
            <p:cNvSpPr/>
            <p:nvPr/>
          </p:nvSpPr>
          <p:spPr>
            <a:xfrm>
              <a:off x="10362605" y="6913721"/>
              <a:ext cx="3523417" cy="6646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Acumular XP e Evoluir</a:t>
              </a:r>
              <a:endParaRPr lang="en-US" sz="2050" dirty="0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1A3A70B7-43D8-45D9-923C-DD4905B23BC4}"/>
                </a:ext>
              </a:extLst>
            </p:cNvPr>
            <p:cNvSpPr/>
            <p:nvPr/>
          </p:nvSpPr>
          <p:spPr>
            <a:xfrm>
              <a:off x="12842240" y="7741920"/>
              <a:ext cx="1666240" cy="375920"/>
            </a:xfrm>
            <a:prstGeom prst="rect">
              <a:avLst/>
            </a:prstGeom>
            <a:solidFill>
              <a:srgbClr val="141E24"/>
            </a:solidFill>
            <a:ln>
              <a:solidFill>
                <a:srgbClr val="141E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Agrupar 34">
            <a:extLst>
              <a:ext uri="{FF2B5EF4-FFF2-40B4-BE49-F238E27FC236}">
                <a16:creationId xmlns:a16="http://schemas.microsoft.com/office/drawing/2014/main" id="{0AE30C60-ADA8-460D-9C42-48D5B8FCC2F0}"/>
              </a:ext>
            </a:extLst>
          </p:cNvPr>
          <p:cNvGrpSpPr/>
          <p:nvPr/>
        </p:nvGrpSpPr>
        <p:grpSpPr>
          <a:xfrm>
            <a:off x="956905" y="552807"/>
            <a:ext cx="13551575" cy="7565033"/>
            <a:chOff x="956905" y="552807"/>
            <a:chExt cx="13551575" cy="7565033"/>
          </a:xfrm>
        </p:grpSpPr>
        <p:sp>
          <p:nvSpPr>
            <p:cNvPr id="2" name="Text 0"/>
            <p:cNvSpPr/>
            <p:nvPr/>
          </p:nvSpPr>
          <p:spPr>
            <a:xfrm>
              <a:off x="956905" y="552807"/>
              <a:ext cx="10767774" cy="5759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500"/>
                </a:lnSpc>
                <a:buNone/>
              </a:pPr>
              <a:r>
                <a:rPr lang="en-US" sz="360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A Narrativa: Jornada do Herói</a:t>
              </a:r>
              <a:endParaRPr lang="en-US" sz="36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7303651" y="1428155"/>
              <a:ext cx="22860" cy="6248519"/>
            </a:xfrm>
            <a:prstGeom prst="roundRect">
              <a:avLst>
                <a:gd name="adj" fmla="val 338605"/>
              </a:avLst>
            </a:prstGeom>
            <a:solidFill>
              <a:srgbClr val="6D9121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6577846" y="1624013"/>
              <a:ext cx="552807" cy="22860"/>
            </a:xfrm>
            <a:prstGeom prst="roundRect">
              <a:avLst>
                <a:gd name="adj" fmla="val 338605"/>
              </a:avLst>
            </a:prstGeom>
            <a:solidFill>
              <a:srgbClr val="6D9121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7107793" y="1428155"/>
              <a:ext cx="414576" cy="414576"/>
            </a:xfrm>
            <a:prstGeom prst="roundRect">
              <a:avLst>
                <a:gd name="adj" fmla="val 18671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176909" y="1462683"/>
              <a:ext cx="276344" cy="3455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150"/>
                </a:lnSpc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1</a:t>
              </a:r>
              <a:endParaRPr lang="en-US" sz="21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83531" y="1491496"/>
              <a:ext cx="2910126" cy="2878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250"/>
                </a:lnSpc>
                <a:buNone/>
              </a:pPr>
              <a:r>
                <a:rPr lang="en-US" sz="18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Mundo Comum</a:t>
              </a:r>
              <a:endParaRPr lang="en-US" sz="1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56905" y="1869162"/>
              <a:ext cx="5436751" cy="2671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100"/>
                </a:lnSpc>
                <a:buNone/>
              </a:pPr>
              <a:r>
                <a:rPr lang="en-US" sz="14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O aluno no ambiente escolar tradicional.</a:t>
              </a:r>
              <a:endParaRPr lang="en-US" sz="14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499509" y="2660571"/>
              <a:ext cx="552807" cy="22860"/>
            </a:xfrm>
            <a:prstGeom prst="roundRect">
              <a:avLst>
                <a:gd name="adj" fmla="val 338605"/>
              </a:avLst>
            </a:prstGeom>
            <a:solidFill>
              <a:srgbClr val="6D9121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7107793" y="2464713"/>
              <a:ext cx="414576" cy="414576"/>
            </a:xfrm>
            <a:prstGeom prst="roundRect">
              <a:avLst>
                <a:gd name="adj" fmla="val 18671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176909" y="2499241"/>
              <a:ext cx="276344" cy="3455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150"/>
                </a:lnSpc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2</a:t>
              </a:r>
              <a:endParaRPr lang="en-US" sz="21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236506" y="2528054"/>
              <a:ext cx="3935968" cy="2878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Chamado à Aventura</a:t>
              </a:r>
              <a:endParaRPr lang="en-US" sz="1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236506" y="2905720"/>
              <a:ext cx="5436870" cy="2671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Convite para iniciar a jornada no jogo.</a:t>
              </a:r>
              <a:endParaRPr lang="en-US" sz="14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577846" y="3579138"/>
              <a:ext cx="552807" cy="22860"/>
            </a:xfrm>
            <a:prstGeom prst="roundRect">
              <a:avLst>
                <a:gd name="adj" fmla="val 338605"/>
              </a:avLst>
            </a:prstGeom>
            <a:solidFill>
              <a:srgbClr val="6D9121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7107793" y="3383280"/>
              <a:ext cx="414576" cy="414576"/>
            </a:xfrm>
            <a:prstGeom prst="roundRect">
              <a:avLst>
                <a:gd name="adj" fmla="val 18671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176909" y="3417808"/>
              <a:ext cx="276344" cy="3455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150"/>
                </a:lnSpc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3</a:t>
              </a:r>
              <a:endParaRPr lang="en-US" sz="21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090035" y="3446621"/>
              <a:ext cx="2303621" cy="2878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250"/>
                </a:lnSpc>
                <a:buNone/>
              </a:pPr>
              <a:r>
                <a:rPr lang="en-US" sz="18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Mentor</a:t>
              </a:r>
              <a:endParaRPr lang="en-US" sz="18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956905" y="3824288"/>
              <a:ext cx="5436751" cy="2671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100"/>
                </a:lnSpc>
                <a:buNone/>
              </a:pPr>
              <a:r>
                <a:rPr lang="en-US" sz="14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Sistema guia que orienta o jogador.</a:t>
              </a:r>
              <a:endParaRPr lang="en-US" sz="14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499509" y="4497705"/>
              <a:ext cx="552807" cy="22860"/>
            </a:xfrm>
            <a:prstGeom prst="roundRect">
              <a:avLst>
                <a:gd name="adj" fmla="val 338605"/>
              </a:avLst>
            </a:prstGeom>
            <a:solidFill>
              <a:srgbClr val="6D9121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7107793" y="4301847"/>
              <a:ext cx="414576" cy="414576"/>
            </a:xfrm>
            <a:prstGeom prst="roundRect">
              <a:avLst>
                <a:gd name="adj" fmla="val 18671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176909" y="4336375"/>
              <a:ext cx="276344" cy="3455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150"/>
                </a:lnSpc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4</a:t>
              </a:r>
              <a:endParaRPr lang="en-US" sz="21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8236506" y="4365188"/>
              <a:ext cx="3274457" cy="2878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Desafios e Provas</a:t>
              </a:r>
              <a:endParaRPr lang="en-US" sz="18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236506" y="4742855"/>
              <a:ext cx="5436870" cy="2671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Perguntas com níveis crescentes de dificuldade.</a:t>
              </a:r>
              <a:endParaRPr lang="en-US" sz="14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577846" y="5416272"/>
              <a:ext cx="552807" cy="22860"/>
            </a:xfrm>
            <a:prstGeom prst="roundRect">
              <a:avLst>
                <a:gd name="adj" fmla="val 338605"/>
              </a:avLst>
            </a:prstGeom>
            <a:solidFill>
              <a:srgbClr val="6D9121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7107793" y="5220414"/>
              <a:ext cx="414576" cy="414576"/>
            </a:xfrm>
            <a:prstGeom prst="roundRect">
              <a:avLst>
                <a:gd name="adj" fmla="val 18671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176909" y="5254943"/>
              <a:ext cx="276344" cy="3455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150"/>
                </a:lnSpc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5</a:t>
              </a:r>
              <a:endParaRPr lang="en-US" sz="21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964781" y="5283756"/>
              <a:ext cx="2428875" cy="2878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250"/>
                </a:lnSpc>
                <a:buNone/>
              </a:pPr>
              <a:r>
                <a:rPr lang="en-US" sz="18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Batalha Final</a:t>
              </a:r>
              <a:endParaRPr lang="en-US" sz="18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956905" y="5661422"/>
              <a:ext cx="5436751" cy="2671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100"/>
                </a:lnSpc>
                <a:buNone/>
              </a:pPr>
              <a:r>
                <a:rPr lang="en-US" sz="14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Desafio máximo de conhecimento.</a:t>
              </a:r>
              <a:endParaRPr lang="en-US" sz="14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499509" y="6334839"/>
              <a:ext cx="552807" cy="22860"/>
            </a:xfrm>
            <a:prstGeom prst="roundRect">
              <a:avLst>
                <a:gd name="adj" fmla="val 338605"/>
              </a:avLst>
            </a:prstGeom>
            <a:solidFill>
              <a:srgbClr val="6D9121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7107793" y="6138982"/>
              <a:ext cx="414576" cy="414576"/>
            </a:xfrm>
            <a:prstGeom prst="roundRect">
              <a:avLst>
                <a:gd name="adj" fmla="val 18671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176909" y="6173510"/>
              <a:ext cx="276344" cy="3455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150"/>
                </a:lnSpc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6</a:t>
              </a:r>
              <a:endParaRPr lang="en-US" sz="21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236506" y="6202323"/>
              <a:ext cx="4843463" cy="2878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8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Retorno com Aprendizado</a:t>
              </a:r>
              <a:endParaRPr lang="en-US" sz="18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236506" y="6579989"/>
              <a:ext cx="5436870" cy="2671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Conquista e consolidação do saber.</a:t>
              </a:r>
              <a:endParaRPr lang="en-US" sz="1450" dirty="0"/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FCD73BFC-0594-4143-8AA2-DF01D90A1FDB}"/>
                </a:ext>
              </a:extLst>
            </p:cNvPr>
            <p:cNvSpPr/>
            <p:nvPr/>
          </p:nvSpPr>
          <p:spPr>
            <a:xfrm>
              <a:off x="12842240" y="7741920"/>
              <a:ext cx="1666240" cy="375920"/>
            </a:xfrm>
            <a:prstGeom prst="rect">
              <a:avLst/>
            </a:prstGeom>
            <a:solidFill>
              <a:srgbClr val="141E24"/>
            </a:solidFill>
            <a:ln>
              <a:solidFill>
                <a:srgbClr val="141E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027060B5-8BBC-473C-A56C-2ADFC3D876B4}"/>
              </a:ext>
            </a:extLst>
          </p:cNvPr>
          <p:cNvGrpSpPr/>
          <p:nvPr/>
        </p:nvGrpSpPr>
        <p:grpSpPr>
          <a:xfrm>
            <a:off x="719376" y="717233"/>
            <a:ext cx="13789104" cy="7400607"/>
            <a:chOff x="719376" y="717233"/>
            <a:chExt cx="13789104" cy="7400607"/>
          </a:xfrm>
        </p:grpSpPr>
        <p:sp>
          <p:nvSpPr>
            <p:cNvPr id="2" name="Text 0"/>
            <p:cNvSpPr/>
            <p:nvPr/>
          </p:nvSpPr>
          <p:spPr>
            <a:xfrm>
              <a:off x="719376" y="717233"/>
              <a:ext cx="13041154" cy="64234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050"/>
                </a:lnSpc>
                <a:buNone/>
              </a:pPr>
              <a:r>
                <a:rPr lang="en-US" sz="400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Mecânicas do Jogo — Core Loop</a:t>
              </a:r>
              <a:endParaRPr lang="en-US" sz="4000" dirty="0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888" y="1732121"/>
              <a:ext cx="12610624" cy="4943713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311759" y="1974571"/>
              <a:ext cx="2308496" cy="7420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Jogar Dado</a:t>
              </a:r>
              <a:endParaRPr lang="en-US" sz="23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1009916" y="1974571"/>
              <a:ext cx="2308496" cy="7420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Avançar Peça</a:t>
              </a:r>
              <a:endParaRPr lang="en-US" sz="23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1009916" y="5907233"/>
              <a:ext cx="2308496" cy="111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Responder Pergunta</a:t>
              </a:r>
              <a:endParaRPr lang="en-US" sz="23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433679" y="6082578"/>
              <a:ext cx="2308496" cy="7420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Resultado</a:t>
              </a:r>
              <a:endParaRPr lang="en-US" sz="23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19376" y="6885384"/>
              <a:ext cx="13191649" cy="6269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6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O </a:t>
              </a:r>
              <a:r>
                <a:rPr lang="en-US" sz="1600" b="1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core loop</a:t>
              </a:r>
              <a:r>
                <a:rPr lang="en-US" sz="16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 é simples e viciante: jogar, responder, evoluir. O ciclo se repete com perguntas cada vez mais desafiadoras, mantendo o aluno engajado e aprendendo continuamente.</a:t>
              </a:r>
              <a:endParaRPr lang="en-US" sz="1600" dirty="0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E55C942-4E36-4D59-BFED-B264E14D872E}"/>
                </a:ext>
              </a:extLst>
            </p:cNvPr>
            <p:cNvSpPr/>
            <p:nvPr/>
          </p:nvSpPr>
          <p:spPr>
            <a:xfrm>
              <a:off x="12842240" y="7741920"/>
              <a:ext cx="1666240" cy="375920"/>
            </a:xfrm>
            <a:prstGeom prst="rect">
              <a:avLst/>
            </a:prstGeom>
            <a:solidFill>
              <a:srgbClr val="141E24"/>
            </a:solidFill>
            <a:ln>
              <a:solidFill>
                <a:srgbClr val="141E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0D92D2BA-B0DB-42B8-A26A-291954B2B526}"/>
              </a:ext>
            </a:extLst>
          </p:cNvPr>
          <p:cNvGrpSpPr/>
          <p:nvPr/>
        </p:nvGrpSpPr>
        <p:grpSpPr>
          <a:xfrm>
            <a:off x="793790" y="1652111"/>
            <a:ext cx="13714690" cy="6465729"/>
            <a:chOff x="793790" y="1652111"/>
            <a:chExt cx="13714690" cy="6465729"/>
          </a:xfrm>
        </p:grpSpPr>
        <p:sp>
          <p:nvSpPr>
            <p:cNvPr id="2" name="Text 0"/>
            <p:cNvSpPr/>
            <p:nvPr/>
          </p:nvSpPr>
          <p:spPr>
            <a:xfrm>
              <a:off x="793790" y="1652111"/>
              <a:ext cx="12855059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5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Funcionalidades do Sistema</a:t>
              </a:r>
              <a:endParaRPr lang="en-US" sz="4450" dirty="0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2814518"/>
              <a:ext cx="1341120" cy="828794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793790" y="3926800"/>
              <a:ext cx="3048000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Perguntas por Nível</a:t>
              </a:r>
              <a:endParaRPr lang="en-US" sz="22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793790" y="4771549"/>
              <a:ext cx="3048000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Questões organizadas em níveis de dificuldade: fácil, médio e difícil, adaptando-se ao progresso do aluno.</a:t>
              </a:r>
              <a:endParaRPr lang="en-US" sz="1750" dirty="0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5278" y="2814518"/>
              <a:ext cx="1341120" cy="828794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4125278" y="3926800"/>
              <a:ext cx="3048119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Feedback Imediato</a:t>
              </a:r>
              <a:endParaRPr lang="en-US" sz="22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4125278" y="4771549"/>
              <a:ext cx="3048119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Resposta instantânea ao jogador com explicações e reforço positivo após cada pergunta respondida.</a:t>
              </a:r>
              <a:endParaRPr lang="en-US" sz="1750" dirty="0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56884" y="2814518"/>
              <a:ext cx="1341120" cy="828794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7456884" y="3926800"/>
              <a:ext cx="3048119" cy="1062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Relatórios de Desempenho</a:t>
              </a:r>
              <a:endParaRPr lang="en-US" sz="22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7456884" y="5125879"/>
              <a:ext cx="3048119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Dashboard completo para o professor visualizar o progresso individual e coletivo da turma.</a:t>
              </a:r>
              <a:endParaRPr lang="en-US" sz="1750" dirty="0"/>
            </a:p>
          </p:txBody>
        </p:sp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88491" y="2814518"/>
              <a:ext cx="1341120" cy="828794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10788491" y="3926800"/>
              <a:ext cx="3048119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Progressão no Tabuleiro</a:t>
              </a:r>
              <a:endParaRPr lang="en-US" sz="2200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10788491" y="4771549"/>
              <a:ext cx="3048119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Sistema de avanço visual com conquistas, desbloqueio de fases e recompensas motivacionais.</a:t>
              </a:r>
              <a:endParaRPr lang="en-US" sz="1750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4DA8503-0EEE-4273-9C54-32357806B11F}"/>
                </a:ext>
              </a:extLst>
            </p:cNvPr>
            <p:cNvSpPr/>
            <p:nvPr/>
          </p:nvSpPr>
          <p:spPr>
            <a:xfrm>
              <a:off x="12842240" y="7741920"/>
              <a:ext cx="1666240" cy="375920"/>
            </a:xfrm>
            <a:prstGeom prst="rect">
              <a:avLst/>
            </a:prstGeom>
            <a:solidFill>
              <a:srgbClr val="141E24"/>
            </a:solidFill>
            <a:ln>
              <a:solidFill>
                <a:srgbClr val="141E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Agrupar 16">
            <a:extLst>
              <a:ext uri="{FF2B5EF4-FFF2-40B4-BE49-F238E27FC236}">
                <a16:creationId xmlns:a16="http://schemas.microsoft.com/office/drawing/2014/main" id="{4EA8BBD9-377A-4CE3-8FB4-8AD168AC5CBE}"/>
              </a:ext>
            </a:extLst>
          </p:cNvPr>
          <p:cNvGrpSpPr/>
          <p:nvPr/>
        </p:nvGrpSpPr>
        <p:grpSpPr>
          <a:xfrm>
            <a:off x="694611" y="741640"/>
            <a:ext cx="13813869" cy="7376200"/>
            <a:chOff x="694611" y="741640"/>
            <a:chExt cx="13813869" cy="737620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611" y="741640"/>
              <a:ext cx="8437245" cy="4781074"/>
            </a:xfrm>
            <a:prstGeom prst="rect">
              <a:avLst/>
            </a:prstGeom>
          </p:spPr>
        </p:pic>
        <p:sp>
          <p:nvSpPr>
            <p:cNvPr id="3" name="Shape 0"/>
            <p:cNvSpPr/>
            <p:nvPr/>
          </p:nvSpPr>
          <p:spPr>
            <a:xfrm>
              <a:off x="9623584" y="1474946"/>
              <a:ext cx="1888569" cy="357307"/>
            </a:xfrm>
            <a:prstGeom prst="roundRect">
              <a:avLst>
                <a:gd name="adj" fmla="val 18664"/>
              </a:avLst>
            </a:prstGeom>
            <a:solidFill>
              <a:srgbClr val="334805"/>
            </a:solidFill>
            <a:ln/>
          </p:spPr>
        </p:sp>
        <p:sp>
          <p:nvSpPr>
            <p:cNvPr id="4" name="Text 1"/>
            <p:cNvSpPr/>
            <p:nvPr/>
          </p:nvSpPr>
          <p:spPr>
            <a:xfrm>
              <a:off x="9742646" y="1534477"/>
              <a:ext cx="1650444" cy="2382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sz="12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PAPEL DO PROFESSOR</a:t>
              </a:r>
              <a:endParaRPr lang="en-US" sz="12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9623584" y="1901666"/>
              <a:ext cx="4319707" cy="18602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4850"/>
                </a:lnSpc>
                <a:buNone/>
              </a:pPr>
              <a:r>
                <a:rPr lang="en-US" sz="390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Administrador do Conteúdo</a:t>
              </a:r>
              <a:endParaRPr lang="en-US" sz="39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9623584" y="3935492"/>
              <a:ext cx="4319707" cy="892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5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O professor tem controle total sobre o jogo da sua turma. Ele pode personalizar o conteúdo e acompanhar cada aluno em tempo real.</a:t>
              </a:r>
              <a:endParaRPr lang="en-US" sz="155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694611" y="5913239"/>
              <a:ext cx="4297918" cy="1769864"/>
            </a:xfrm>
            <a:prstGeom prst="roundRect">
              <a:avLst>
                <a:gd name="adj" fmla="val 4710"/>
              </a:avLst>
            </a:prstGeom>
            <a:solidFill>
              <a:srgbClr val="152025">
                <a:alpha val="95000"/>
              </a:srgbClr>
            </a:solidFill>
            <a:ln w="22860">
              <a:solidFill>
                <a:srgbClr val="6D9121"/>
              </a:solidFill>
              <a:prstDash val="solid"/>
            </a:ln>
          </p:spPr>
        </p:sp>
        <p:sp>
          <p:nvSpPr>
            <p:cNvPr id="8" name="Text 5"/>
            <p:cNvSpPr/>
            <p:nvPr/>
          </p:nvSpPr>
          <p:spPr>
            <a:xfrm>
              <a:off x="915829" y="6134457"/>
              <a:ext cx="3855482" cy="627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📥</a:t>
              </a:r>
              <a:r>
                <a:rPr lang="en-US" sz="19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 Importar Perguntas</a:t>
              </a:r>
              <a:endParaRPr lang="en-US" sz="195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915829" y="6866573"/>
              <a:ext cx="3855482" cy="2976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5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Inserção manual ou via arquivo CSV.</a:t>
              </a:r>
              <a:endParaRPr lang="en-US" sz="15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5166122" y="5913239"/>
              <a:ext cx="4298037" cy="1769864"/>
            </a:xfrm>
            <a:prstGeom prst="roundRect">
              <a:avLst>
                <a:gd name="adj" fmla="val 4710"/>
              </a:avLst>
            </a:prstGeom>
            <a:solidFill>
              <a:srgbClr val="152025">
                <a:alpha val="95000"/>
              </a:srgbClr>
            </a:solidFill>
            <a:ln w="22860">
              <a:solidFill>
                <a:srgbClr val="6D9121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5387340" y="6134457"/>
              <a:ext cx="3855601" cy="627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📊</a:t>
              </a:r>
              <a:r>
                <a:rPr lang="en-US" sz="19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 Relatórios Detalhados</a:t>
              </a:r>
              <a:endParaRPr lang="en-US" sz="19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5387340" y="6866573"/>
              <a:ext cx="3855601" cy="595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5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Visualize acertos, erros e evolução por aluno.</a:t>
              </a:r>
              <a:endParaRPr lang="en-US" sz="155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9637752" y="5913239"/>
              <a:ext cx="4297918" cy="1769864"/>
            </a:xfrm>
            <a:prstGeom prst="roundRect">
              <a:avLst>
                <a:gd name="adj" fmla="val 4710"/>
              </a:avLst>
            </a:prstGeom>
            <a:solidFill>
              <a:srgbClr val="152025">
                <a:alpha val="95000"/>
              </a:srgbClr>
            </a:solidFill>
            <a:ln w="22860">
              <a:solidFill>
                <a:srgbClr val="6D9121"/>
              </a:solidFill>
              <a:prstDash val="solid"/>
            </a:ln>
          </p:spPr>
        </p:sp>
        <p:sp>
          <p:nvSpPr>
            <p:cNvPr id="14" name="Text 11"/>
            <p:cNvSpPr/>
            <p:nvPr/>
          </p:nvSpPr>
          <p:spPr>
            <a:xfrm>
              <a:off x="9858970" y="6134457"/>
              <a:ext cx="3855482" cy="627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🎯</a:t>
              </a:r>
              <a:r>
                <a:rPr lang="en-US" sz="19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 Identificar Dificuldades</a:t>
              </a:r>
              <a:endParaRPr lang="en-US" sz="195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9858970" y="6866573"/>
              <a:ext cx="3855482" cy="2976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55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Mapeie os tópicos que exigem reforço.</a:t>
              </a:r>
              <a:endParaRPr lang="en-US" sz="1550" dirty="0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9E823C68-D98F-4E81-AC88-7AC9FABAA9EF}"/>
                </a:ext>
              </a:extLst>
            </p:cNvPr>
            <p:cNvSpPr/>
            <p:nvPr/>
          </p:nvSpPr>
          <p:spPr>
            <a:xfrm>
              <a:off x="12842240" y="7741920"/>
              <a:ext cx="1666240" cy="375920"/>
            </a:xfrm>
            <a:prstGeom prst="rect">
              <a:avLst/>
            </a:prstGeom>
            <a:solidFill>
              <a:srgbClr val="141E24"/>
            </a:solidFill>
            <a:ln>
              <a:solidFill>
                <a:srgbClr val="141E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Agrupar 30">
            <a:extLst>
              <a:ext uri="{FF2B5EF4-FFF2-40B4-BE49-F238E27FC236}">
                <a16:creationId xmlns:a16="http://schemas.microsoft.com/office/drawing/2014/main" id="{38C781AF-E69B-4D16-86E0-47930DBB27ED}"/>
              </a:ext>
            </a:extLst>
          </p:cNvPr>
          <p:cNvGrpSpPr/>
          <p:nvPr/>
        </p:nvGrpSpPr>
        <p:grpSpPr>
          <a:xfrm>
            <a:off x="731758" y="656153"/>
            <a:ext cx="13776722" cy="7461687"/>
            <a:chOff x="731758" y="656153"/>
            <a:chExt cx="13776722" cy="7461687"/>
          </a:xfrm>
        </p:grpSpPr>
        <p:sp>
          <p:nvSpPr>
            <p:cNvPr id="2" name="Text 0"/>
            <p:cNvSpPr/>
            <p:nvPr/>
          </p:nvSpPr>
          <p:spPr>
            <a:xfrm>
              <a:off x="731758" y="656153"/>
              <a:ext cx="11171873" cy="6534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100"/>
                </a:lnSpc>
                <a:buNone/>
              </a:pPr>
              <a:r>
                <a:rPr lang="en-US" sz="410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Tecnologias e Metodologia</a:t>
              </a:r>
              <a:endParaRPr lang="en-US" sz="41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31758" y="1791414"/>
              <a:ext cx="4251960" cy="3342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rgbClr val="000000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🛠</a:t>
              </a:r>
              <a:r>
                <a:rPr lang="en-US" sz="205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 Stack Tecnológico</a:t>
              </a:r>
              <a:endParaRPr lang="en-US" sz="205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731758" y="2342436"/>
              <a:ext cx="3067764" cy="1600676"/>
            </a:xfrm>
            <a:prstGeom prst="roundRect">
              <a:avLst>
                <a:gd name="adj" fmla="val 5487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948452" y="2559129"/>
              <a:ext cx="2634377" cy="6531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Godot Engine</a:t>
              </a:r>
              <a:endParaRPr lang="en-US" sz="20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48452" y="3405068"/>
              <a:ext cx="2634377" cy="321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Desenvolvimento do jogo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992285" y="2342436"/>
              <a:ext cx="3067883" cy="1600676"/>
            </a:xfrm>
            <a:prstGeom prst="roundRect">
              <a:avLst>
                <a:gd name="adj" fmla="val 5487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208978" y="2559129"/>
              <a:ext cx="2613779" cy="326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GitHub</a:t>
              </a:r>
              <a:endParaRPr lang="en-US" sz="20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208978" y="3078480"/>
              <a:ext cx="2634496" cy="321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Versionamento de código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31758" y="4135874"/>
              <a:ext cx="3067764" cy="1600676"/>
            </a:xfrm>
            <a:prstGeom prst="roundRect">
              <a:avLst>
                <a:gd name="adj" fmla="val 5487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948452" y="4352568"/>
              <a:ext cx="2613779" cy="326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Trello</a:t>
              </a:r>
              <a:endParaRPr lang="en-US" sz="20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948452" y="4871918"/>
              <a:ext cx="2634377" cy="321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Gestão de sprints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992285" y="4135874"/>
              <a:ext cx="3067883" cy="1600676"/>
            </a:xfrm>
            <a:prstGeom prst="roundRect">
              <a:avLst>
                <a:gd name="adj" fmla="val 5487"/>
              </a:avLst>
            </a:prstGeom>
            <a:solidFill>
              <a:srgbClr val="547808"/>
            </a:solidFill>
            <a:ln w="7620">
              <a:solidFill>
                <a:srgbClr val="6D9121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208978" y="4352568"/>
              <a:ext cx="2634496" cy="6531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rgbClr val="FFFFFF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Google Forms</a:t>
              </a:r>
              <a:endParaRPr lang="en-US" sz="20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208978" y="5198507"/>
              <a:ext cx="2634496" cy="321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Coleta de dados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577852" y="1791414"/>
              <a:ext cx="3868579" cy="3342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rgbClr val="000000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📋</a:t>
              </a:r>
              <a:r>
                <a:rPr lang="en-US" sz="205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 Metodologia Ágil</a:t>
              </a:r>
              <a:endParaRPr lang="en-US" sz="20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577852" y="2318385"/>
              <a:ext cx="6328410" cy="642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Desenvolvimento incremental com </a:t>
              </a:r>
              <a:r>
                <a:rPr lang="en-US" sz="1600" b="1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sprints organizadas no Trello</a:t>
              </a:r>
              <a:r>
                <a:rPr lang="en-US" sz="16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, divisão clara de responsabilidades e entregas contínuas.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1758" y="6170176"/>
              <a:ext cx="418148" cy="26134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D7E5D8"/>
                  </a:solidFill>
                  <a:latin typeface="Syne Light" pitchFamily="34" charset="0"/>
                  <a:ea typeface="Syne Light" pitchFamily="34" charset="-122"/>
                  <a:cs typeface="Syne Light" pitchFamily="34" charset="-120"/>
                </a:rPr>
                <a:t>01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31758" y="6502718"/>
              <a:ext cx="4260413" cy="22860"/>
            </a:xfrm>
            <a:prstGeom prst="rect">
              <a:avLst/>
            </a:prstGeom>
            <a:solidFill>
              <a:srgbClr val="A9F00F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731758" y="6652974"/>
              <a:ext cx="2955608" cy="326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Planejamento</a:t>
              </a:r>
              <a:endParaRPr lang="en-US" sz="20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31758" y="7095173"/>
              <a:ext cx="4260413" cy="321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Definição de escopo e backlog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184934" y="6170176"/>
              <a:ext cx="418148" cy="26134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D7E5D8"/>
                  </a:solidFill>
                  <a:latin typeface="Syne Light" pitchFamily="34" charset="0"/>
                  <a:ea typeface="Syne Light" pitchFamily="34" charset="-122"/>
                  <a:cs typeface="Syne Light" pitchFamily="34" charset="-120"/>
                </a:rPr>
                <a:t>02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184934" y="6502718"/>
              <a:ext cx="4260413" cy="22860"/>
            </a:xfrm>
            <a:prstGeom prst="rect">
              <a:avLst/>
            </a:prstGeom>
            <a:solidFill>
              <a:srgbClr val="A9F00F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5184934" y="6652974"/>
              <a:ext cx="2613779" cy="326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Sprints</a:t>
              </a:r>
              <a:endParaRPr lang="en-US" sz="20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184934" y="7095173"/>
              <a:ext cx="4260413" cy="321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Front-end, back-end e documentação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9638109" y="6170176"/>
              <a:ext cx="418148" cy="26134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D7E5D8"/>
                  </a:solidFill>
                  <a:latin typeface="Syne Light" pitchFamily="34" charset="0"/>
                  <a:ea typeface="Syne Light" pitchFamily="34" charset="-122"/>
                  <a:cs typeface="Syne Light" pitchFamily="34" charset="-120"/>
                </a:rPr>
                <a:t>03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9638109" y="6502718"/>
              <a:ext cx="4260413" cy="22860"/>
            </a:xfrm>
            <a:prstGeom prst="rect">
              <a:avLst/>
            </a:prstGeom>
            <a:solidFill>
              <a:srgbClr val="A9F00F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9638109" y="6652974"/>
              <a:ext cx="2613779" cy="326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20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Revisão</a:t>
              </a:r>
              <a:endParaRPr lang="en-US" sz="20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9638109" y="7095173"/>
              <a:ext cx="4260413" cy="321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Testes, ajustes e integração</a:t>
              </a:r>
              <a:endParaRPr lang="en-US" sz="1600" dirty="0"/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8A6A6006-C4CC-452F-9067-381DA7CD9EE0}"/>
                </a:ext>
              </a:extLst>
            </p:cNvPr>
            <p:cNvSpPr/>
            <p:nvPr/>
          </p:nvSpPr>
          <p:spPr>
            <a:xfrm>
              <a:off x="12842240" y="7741920"/>
              <a:ext cx="1666240" cy="375920"/>
            </a:xfrm>
            <a:prstGeom prst="rect">
              <a:avLst/>
            </a:prstGeom>
            <a:solidFill>
              <a:srgbClr val="141E24"/>
            </a:solidFill>
            <a:ln>
              <a:solidFill>
                <a:srgbClr val="141E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Agrupar 16">
            <a:extLst>
              <a:ext uri="{FF2B5EF4-FFF2-40B4-BE49-F238E27FC236}">
                <a16:creationId xmlns:a16="http://schemas.microsoft.com/office/drawing/2014/main" id="{0FE5EF9D-94D3-47AB-B35E-8120879EC58E}"/>
              </a:ext>
            </a:extLst>
          </p:cNvPr>
          <p:cNvGrpSpPr/>
          <p:nvPr/>
        </p:nvGrpSpPr>
        <p:grpSpPr>
          <a:xfrm>
            <a:off x="756642" y="601504"/>
            <a:ext cx="13751838" cy="7516336"/>
            <a:chOff x="756642" y="601504"/>
            <a:chExt cx="13751838" cy="7516336"/>
          </a:xfrm>
        </p:grpSpPr>
        <p:sp>
          <p:nvSpPr>
            <p:cNvPr id="2" name="Text 0"/>
            <p:cNvSpPr/>
            <p:nvPr/>
          </p:nvSpPr>
          <p:spPr>
            <a:xfrm>
              <a:off x="756642" y="601504"/>
              <a:ext cx="11443573" cy="6756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300"/>
                </a:lnSpc>
                <a:buNone/>
              </a:pPr>
              <a:r>
                <a:rPr lang="en-US" sz="4250" b="1" dirty="0">
                  <a:solidFill>
                    <a:srgbClr val="F0F4F1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Pesquisa com Professores</a:t>
              </a:r>
              <a:endParaRPr lang="en-US" sz="42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56642" y="1689259"/>
              <a:ext cx="13117116" cy="675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7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Aplicamos um formulário via </a:t>
              </a:r>
              <a:r>
                <a:rPr lang="en-US" sz="1700" b="1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Google Forms</a:t>
              </a:r>
              <a:r>
                <a:rPr lang="en-US" sz="17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 para entender as reais dificuldades no ensino. Os dados podem ser exportados para planilhas e analisados para gerar </a:t>
              </a:r>
              <a:r>
                <a:rPr lang="en-US" sz="1700" b="1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insights educacionais</a:t>
              </a:r>
              <a:r>
                <a:rPr lang="en-US" sz="17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.</a:t>
              </a:r>
              <a:endParaRPr lang="en-US" sz="17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527334" y="4001691"/>
              <a:ext cx="2659142" cy="5404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4250"/>
                </a:lnSpc>
                <a:buNone/>
              </a:pPr>
              <a:r>
                <a:rPr lang="en-US" sz="42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78%</a:t>
              </a:r>
              <a:endParaRPr lang="en-US" sz="4250" dirty="0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5512" y="2650569"/>
              <a:ext cx="3242905" cy="3242905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756642" y="6153388"/>
              <a:ext cx="4200644" cy="675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Baixo Engajamento</a:t>
              </a:r>
              <a:endParaRPr lang="en-US" sz="21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756642" y="6952536"/>
              <a:ext cx="4200644" cy="675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17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Professores relatam dificuldade em engajar alunos com métodos tradicionais.</a:t>
              </a:r>
              <a:endParaRPr lang="en-US" sz="17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985510" y="4001691"/>
              <a:ext cx="2659142" cy="5404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4250"/>
                </a:lnSpc>
                <a:buNone/>
              </a:pPr>
              <a:r>
                <a:rPr lang="en-US" sz="42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85%</a:t>
              </a:r>
              <a:endParaRPr lang="en-US" sz="4250" dirty="0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93688" y="2650569"/>
              <a:ext cx="3242905" cy="3242905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5214818" y="6153388"/>
              <a:ext cx="4200644" cy="675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Interesse em Gamificação</a:t>
              </a:r>
              <a:endParaRPr lang="en-US" sz="21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5214818" y="6952536"/>
              <a:ext cx="4200644" cy="675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17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Manifestaram interesse em ferramentas gamificadas para sala de aula.</a:t>
              </a:r>
              <a:endParaRPr lang="en-US" sz="17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10443686" y="4001691"/>
              <a:ext cx="2659142" cy="5404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4250"/>
                </a:lnSpc>
                <a:buNone/>
              </a:pPr>
              <a:r>
                <a:rPr lang="en-US" sz="425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72%</a:t>
              </a:r>
              <a:endParaRPr lang="en-US" sz="4250" dirty="0"/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51864" y="2650569"/>
              <a:ext cx="3242905" cy="3242905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9672995" y="6153388"/>
              <a:ext cx="4200644" cy="675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D7E5D8"/>
                  </a:solidFill>
                  <a:latin typeface="Syne Extra Bold" pitchFamily="34" charset="0"/>
                  <a:ea typeface="Syne Extra Bold" pitchFamily="34" charset="-122"/>
                  <a:cs typeface="Syne Extra Bold" pitchFamily="34" charset="-120"/>
                </a:rPr>
                <a:t>Necessidade de Monitoramento</a:t>
              </a:r>
              <a:endParaRPr lang="en-US" sz="210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9672995" y="6952536"/>
              <a:ext cx="4200644" cy="675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1700" dirty="0">
                  <a:solidFill>
                    <a:srgbClr val="D7E5D8"/>
                  </a:solidFill>
                  <a:latin typeface="Syne" pitchFamily="34" charset="0"/>
                  <a:ea typeface="Syne" pitchFamily="34" charset="-122"/>
                  <a:cs typeface="Syne" pitchFamily="34" charset="-120"/>
                </a:rPr>
                <a:t>Buscam formas mais eficientes de acompanhar o desempenho dos alunos.</a:t>
              </a:r>
              <a:endParaRPr lang="en-US" sz="1700" dirty="0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09F77507-0BB9-47C0-BB46-F0A9D5FBB4CA}"/>
                </a:ext>
              </a:extLst>
            </p:cNvPr>
            <p:cNvSpPr/>
            <p:nvPr/>
          </p:nvSpPr>
          <p:spPr>
            <a:xfrm>
              <a:off x="12842240" y="7741920"/>
              <a:ext cx="1666240" cy="375920"/>
            </a:xfrm>
            <a:prstGeom prst="rect">
              <a:avLst/>
            </a:prstGeom>
            <a:solidFill>
              <a:srgbClr val="141E24"/>
            </a:solidFill>
            <a:ln>
              <a:solidFill>
                <a:srgbClr val="141E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615</Words>
  <Application>Microsoft Office PowerPoint</Application>
  <PresentationFormat>Personalizar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Calibri</vt:lpstr>
      <vt:lpstr>Syne</vt:lpstr>
      <vt:lpstr>Syne Extra Bold</vt:lpstr>
      <vt:lpstr>Arial</vt:lpstr>
      <vt:lpstr>Syne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LAB01 - 28</dc:creator>
  <cp:lastModifiedBy>laboratorio</cp:lastModifiedBy>
  <cp:revision>3</cp:revision>
  <dcterms:created xsi:type="dcterms:W3CDTF">2026-04-23T00:12:57Z</dcterms:created>
  <dcterms:modified xsi:type="dcterms:W3CDTF">2026-04-23T00:37:25Z</dcterms:modified>
</cp:coreProperties>
</file>